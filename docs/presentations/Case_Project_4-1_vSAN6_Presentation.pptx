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vSAN in vSphere 6.0 — 10‑Minute Briefing (Case Project 4‑1)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Audience: vSphere admins new to vSAN 6.0. Goal: enable vSAN (manual disk claim), validate health, and understand design basics.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What is vSAN?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Hyperconverged storage built into the ESXi hypervisor</a:t>
            </a:r>
          </a:p>
          <a:p>
            <a:pPr lvl="0"/>
            <a:r>
              <a:rPr/>
              <a:t>Aggregates local disks into a shared vsanDatastore</a:t>
            </a:r>
          </a:p>
          <a:p>
            <a:pPr lvl="0"/>
            <a:r>
              <a:rPr/>
              <a:t>Storage Policy Based Management (SPBM) controls availability and performance</a:t>
            </a:r>
          </a:p>
          <a:p>
            <a:pPr lvl="0"/>
            <a:r>
              <a:rPr/>
              <a:t>vSAN 6.0 = Original Storage Architecture (cache + capacity via disk groups)</a:t>
            </a:r>
          </a:p>
          <a:p>
            <a:pPr lvl="0" indent="0" marL="0">
              <a:buNone/>
            </a:pPr>
            <a:r>
              <a:rPr/>
              <a:t>Speaker notes: - vSAN is part of ESXi — no extra VIBs in 6.0. It pools local storage and exposes a single vsanDatastore per cluster. Policies define failures to tolerate (FTT), stripe width, etc.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Prerequisites (Hardware/Hosts)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3+ ESXi 6.0 hosts contributing storage (4 recommended for rebuild capacity)</a:t>
            </a:r>
          </a:p>
          <a:p>
            <a:pPr lvl="0"/>
            <a:r>
              <a:rPr/>
              <a:t>Each storage host: at least 1 flash device (cache) + 1 or more HDD/SSD (capacity)</a:t>
            </a:r>
          </a:p>
          <a:p>
            <a:pPr lvl="0"/>
            <a:r>
              <a:rPr/>
              <a:t>HCL-compliant controllers and drives (vSAN HCL)</a:t>
            </a:r>
          </a:p>
          <a:p>
            <a:pPr lvl="0"/>
            <a:r>
              <a:rPr/>
              <a:t>Memory sizing: allow for up to 5 disk groups and 7 capacity devices per host</a:t>
            </a:r>
          </a:p>
          <a:p>
            <a:pPr lvl="0" indent="0" marL="0">
              <a:buNone/>
            </a:pPr>
            <a:r>
              <a:rPr/>
              <a:t>Speaker notes: - vSAN ReadyNodes simplify compliance. Hybrid supports 1/10GbE; All‑Flash requires 10GbE. See vSphere 6.0 configuration maximums and vSAN HCL.</a:t>
            </a:r>
          </a:p>
          <a:p>
            <a:pPr lvl="0" indent="0" marL="0">
              <a:buNone/>
            </a:pPr>
            <a:r>
              <a:rPr/>
              <a:t>References: 4sysops (network/hardware), VMware vSphere 6.0 Configuration Maximums (link in references)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Networking for vSAN 6.0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Dedicated VMkernel adapter with “Virtual SAN traffic” enabled on each host</a:t>
            </a:r>
          </a:p>
          <a:p>
            <a:pPr lvl="0"/>
            <a:r>
              <a:rPr/>
              <a:t>Same L2 subnet for vSAN traffic across hosts</a:t>
            </a:r>
          </a:p>
          <a:p>
            <a:pPr lvl="0"/>
            <a:r>
              <a:rPr/>
              <a:t>Hybrid: 1GbE supported (10GbE strongly recommended). All‑Flash: 10GbE only</a:t>
            </a:r>
          </a:p>
          <a:p>
            <a:pPr lvl="0"/>
            <a:r>
              <a:rPr/>
              <a:t>Historical note: vSAN 6.0 uses multicast for cluster membership and metadata</a:t>
            </a:r>
          </a:p>
          <a:p>
            <a:pPr lvl="0" indent="0" marL="0">
              <a:buNone/>
            </a:pPr>
            <a:r>
              <a:rPr/>
              <a:t>Speaker notes: - Configure a dedicated portgroup/uplink where possible. In early releases (5.5/6.0), multicast/IGMP snooping/querier on the physical network was required for discovery/communication; later versions moved to unicast.</a:t>
            </a:r>
          </a:p>
          <a:p>
            <a:pPr lvl="0" indent="0" marL="0">
              <a:buNone/>
            </a:pPr>
            <a:r>
              <a:rPr/>
              <a:t>References: 4sysops (multicast and IGMP snooping guidance)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Disk Groups (Core 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disk group = 1 cache SSD + 1–7 capacity devices (HDD in Hybrid; SSD in All‑Flash)</a:t>
            </a:r>
          </a:p>
          <a:p>
            <a:pPr lvl="0"/>
            <a:r>
              <a:rPr/>
              <a:t>Multiple disk groups per host are allowed (up to config maximums)</a:t>
            </a:r>
          </a:p>
          <a:p>
            <a:pPr lvl="0"/>
            <a:r>
              <a:rPr/>
              <a:t>Disk group = failure domain (cache device failure impacts the whole group)</a:t>
            </a:r>
          </a:p>
          <a:p>
            <a:pPr lvl="0"/>
            <a:r>
              <a:rPr/>
              <a:t>More groups often yield more cache, IOPS, and smaller failure domains</a:t>
            </a:r>
          </a:p>
          <a:p>
            <a:pPr lvl="0" indent="0" marL="0">
              <a:buNone/>
            </a:pPr>
            <a:r>
              <a:rPr/>
              <a:t>Speaker notes: - Per Duncan Epping, multiple disk groups can improve performance/fault domains. Cache is a mandatory SSD per group.</a:t>
            </a:r>
          </a:p>
          <a:p>
            <a:pPr lvl="0" indent="0" marL="0">
              <a:buNone/>
            </a:pPr>
            <a:r>
              <a:rPr/>
              <a:t>References: Yellow‑Bricks (one vs multiple disk groups)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Enable vSAN (Manual Disk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vSphere Web Client &gt; Cluster &gt; Manage &gt; Settings &gt; Virtual SAN &gt; General &gt; Edit</a:t>
            </a:r>
          </a:p>
          <a:p>
            <a:pPr lvl="0"/>
            <a:r>
              <a:rPr/>
              <a:t>Turn ON Virtual SAN</a:t>
            </a:r>
          </a:p>
          <a:p>
            <a:pPr lvl="0"/>
            <a:r>
              <a:rPr/>
              <a:t>Add disks to storage: choose Manual (recommended for control)</a:t>
            </a:r>
          </a:p>
          <a:p>
            <a:pPr lvl="0"/>
            <a:r>
              <a:rPr/>
              <a:t>HA must be temporarily disabled to turn on vSAN in 6.0</a:t>
            </a:r>
          </a:p>
          <a:p>
            <a:pPr lvl="0" indent="0" marL="0">
              <a:buNone/>
            </a:pPr>
            <a:r>
              <a:rPr/>
              <a:t>Speaker notes: - Manual mode prevents auto-claiming non‑intended devices. After enabling, proceed to Disk Management to create disk groups.</a:t>
            </a:r>
          </a:p>
          <a:p>
            <a:pPr lvl="0" indent="0" marL="0">
              <a:buNone/>
            </a:pPr>
            <a:r>
              <a:rPr/>
              <a:t>References: VirtuallyBoring (vSAN 6.0 enablement UX)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Create Disk Groups (Manual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Cluster &gt; Manage &gt; Settings &gt; Virtual SAN &gt; Disk Management</a:t>
            </a:r>
          </a:p>
          <a:p>
            <a:pPr lvl="0"/>
            <a:r>
              <a:rPr/>
              <a:t>Click “Claim Disks”</a:t>
            </a:r>
          </a:p>
          <a:p>
            <a:pPr lvl="0"/>
            <a:r>
              <a:rPr/>
              <a:t>For each host: select 1 SSD as Cache and 1–7 Capacity disks</a:t>
            </a:r>
          </a:p>
          <a:p>
            <a:pPr lvl="0"/>
            <a:r>
              <a:rPr/>
              <a:t>Finish to create disk groups; vsanDatastore appears/expands</a:t>
            </a:r>
          </a:p>
          <a:p>
            <a:pPr lvl="0" indent="0" marL="0">
              <a:buNone/>
            </a:pPr>
            <a:r>
              <a:rPr/>
              <a:t>Speaker notes: - Manual claim steps are documented in KBs and walkthroughs. Each host contributing storage needs at least one disk group.</a:t>
            </a:r>
          </a:p>
          <a:p>
            <a:pPr lvl="0" indent="0" marL="0">
              <a:buNone/>
            </a:pPr>
            <a:r>
              <a:rPr/>
              <a:t>References: VirtuallyBoring; Broadcom KB summary (manual claim)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Validate: Health and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Cluster &gt; Monitor &gt; vSAN &gt; Health/Skyline Health</a:t>
            </a:r>
          </a:p>
          <a:p>
            <a:pPr lvl="0"/>
            <a:r>
              <a:rPr/>
              <a:t>Check: Network health (vmknic configured for vSAN, across all hosts)</a:t>
            </a:r>
          </a:p>
          <a:p>
            <a:pPr lvl="0"/>
            <a:r>
              <a:rPr/>
              <a:t>If using 6.0 networks with multicast: ensure IGMP snooping and querier are correct</a:t>
            </a:r>
          </a:p>
          <a:p>
            <a:pPr lvl="0"/>
            <a:r>
              <a:rPr/>
              <a:t>HCL DB up‑to‑date; retest health after any changes</a:t>
            </a:r>
          </a:p>
          <a:p>
            <a:pPr lvl="0" indent="0" marL="0">
              <a:buNone/>
            </a:pPr>
            <a:r>
              <a:rPr/>
              <a:t>Speaker notes: - Use vmkping between vSAN VMkernel IPs to validate L2 reachability if needed. Keep HCL DB current for accurate checks.</a:t>
            </a:r>
          </a:p>
          <a:p>
            <a:pPr lvl="0" indent="0" marL="0">
              <a:buNone/>
            </a:pPr>
            <a:r>
              <a:rPr/>
              <a:t>References: 4sysops; VMware KB (HCL DB update)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SPBM: Policies Drive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FTT (e.g., RAID‑1 mirror with FTT=1)</a:t>
            </a:r>
          </a:p>
          <a:p>
            <a:pPr lvl="0"/>
            <a:r>
              <a:rPr/>
              <a:t>Stripe width and object space reservation as needed</a:t>
            </a:r>
          </a:p>
          <a:p>
            <a:pPr lvl="0"/>
            <a:r>
              <a:rPr/>
              <a:t>Apply at VM/VMDK granularity; vSAN places components accordingly</a:t>
            </a:r>
          </a:p>
          <a:p>
            <a:pPr lvl="0" indent="0" marL="0">
              <a:buNone/>
            </a:pPr>
            <a:r>
              <a:rPr/>
              <a:t>Speaker notes: - Even in 6.0, SPBM is the control plane. Start simple: FTT=1, default stripe, and adjust per workload.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Ops Tips and Limits (vSphere 6.0)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vsanDatastore per cluster (single namespace)</a:t>
            </a:r>
          </a:p>
          <a:p>
            <a:pPr lvl="0"/>
            <a:r>
              <a:rPr/>
              <a:t>Up to 5 disk groups per host; up to 7 capacity devices per group</a:t>
            </a:r>
          </a:p>
          <a:p>
            <a:pPr lvl="0"/>
            <a:r>
              <a:rPr/>
              <a:t>Plan network redundancy (NIC teaming) and isolate vSAN traffic</a:t>
            </a:r>
          </a:p>
          <a:p>
            <a:pPr lvl="0"/>
            <a:r>
              <a:rPr/>
              <a:t>Monitor capacity: add disks/groups to scale; rebalance occurs as needed</a:t>
            </a:r>
          </a:p>
          <a:p>
            <a:pPr lvl="0" indent="0" marL="0">
              <a:buNone/>
            </a:pPr>
            <a:r>
              <a:rPr/>
              <a:t>Speaker notes: - vSAN attempts space balancing around thresholds; adding capacity helps. Keep an eye on resyncs and storage policies compliance.</a:t>
            </a:r>
          </a:p>
          <a:p>
            <a:pPr lvl="0" indent="0" marL="0">
              <a:buNone/>
            </a:pPr>
            <a:r>
              <a:rPr/>
              <a:t>References: vSphere 6.0 maximums; 4sysops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Demo Walkthrough (6.0 Web 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arenR"/>
            </a:pPr>
            <a:r>
              <a:rPr/>
              <a:t>Create vSAN VMkernel per host</a:t>
            </a:r>
          </a:p>
          <a:p>
            <a:pPr lvl="1"/>
            <a:r>
              <a:rPr/>
              <a:t>Host &gt; Manage &gt; Networking &gt; VMkernel adapters &gt; Add &gt; enable “Virtual SAN traffic”; assign IP</a:t>
            </a:r>
          </a:p>
          <a:p>
            <a:pPr lvl="0" indent="-342900" marL="342900">
              <a:buAutoNum type="arabicParenR"/>
            </a:pPr>
            <a:r>
              <a:rPr/>
              <a:t>Disable HA on cluster</a:t>
            </a:r>
          </a:p>
          <a:p>
            <a:pPr lvl="0" indent="-342900" marL="342900">
              <a:buAutoNum type="arabicParenR"/>
            </a:pPr>
            <a:r>
              <a:rPr/>
              <a:t>Enable vSAN (Manual) at Cluster &gt; Manage &gt; Settings &gt; Virtual SAN &gt; General &gt; Edit</a:t>
            </a:r>
          </a:p>
          <a:p>
            <a:pPr lvl="0" indent="-342900" marL="342900">
              <a:buAutoNum type="arabicParenR"/>
            </a:pPr>
            <a:r>
              <a:rPr/>
              <a:t>Create Disk Groups: Disk Management &gt; Claim Disks (1 SSD cache + capacity per host)</a:t>
            </a:r>
          </a:p>
          <a:p>
            <a:pPr lvl="0" indent="-342900" marL="342900">
              <a:buAutoNum type="arabicParenR"/>
            </a:pPr>
            <a:r>
              <a:rPr/>
              <a:t>Verify vsanDatastore and Health (Monitor &gt; vSAN &gt; Health)</a:t>
            </a:r>
          </a:p>
          <a:p>
            <a:pPr lvl="0" indent="-342900" marL="342900">
              <a:buAutoNum type="arabicParenR"/>
            </a:pPr>
            <a:r>
              <a:rPr/>
              <a:t>Re‑enable HA</a:t>
            </a:r>
          </a:p>
          <a:p>
            <a:pPr lvl="0" indent="0" marL="0">
              <a:buNone/>
            </a:pPr>
            <a:r>
              <a:rPr/>
              <a:t>Speaker notes: - Timebox: ~6 minutes. Screens: VMkernel add, vSAN General enable, Disk Management claim, Health overview.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Troubleshooting Quick 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Hosts cannot communicate: verify vSAN VMkernel IPs, VLANs, vmkping</a:t>
            </a:r>
          </a:p>
          <a:p>
            <a:pPr lvl="0"/>
            <a:r>
              <a:rPr/>
              <a:t>No disks eligible: confirm device not used by VMFS, on HCL, and controller mode</a:t>
            </a:r>
          </a:p>
          <a:p>
            <a:pPr lvl="0"/>
            <a:r>
              <a:rPr/>
              <a:t>Health failures in 6.0: check multicast/IGMP snooping/querier on switches</a:t>
            </a:r>
          </a:p>
          <a:p>
            <a:pPr lvl="0"/>
            <a:r>
              <a:rPr/>
              <a:t>Update vSAN HCL DB and retest health</a:t>
            </a:r>
          </a:p>
          <a:p>
            <a:pPr lvl="0" indent="0" marL="0">
              <a:buNone/>
            </a:pPr>
            <a:r>
              <a:rPr/>
              <a:t>Speaker notes: - Common early‑version gotchas: network multicast config and mis‑tagged VMkernel.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Prepare network and HCL‑compliant hardware first</a:t>
            </a:r>
          </a:p>
          <a:p>
            <a:pPr lvl="0"/>
            <a:r>
              <a:rPr/>
              <a:t>Use Manual disk claim for precise control</a:t>
            </a:r>
          </a:p>
          <a:p>
            <a:pPr lvl="0"/>
            <a:r>
              <a:rPr/>
              <a:t>Multiple disk groups per host can improve performance/fault domains</a:t>
            </a:r>
          </a:p>
          <a:p>
            <a:pPr lvl="0"/>
            <a:r>
              <a:rPr/>
              <a:t>Validate with Health; manage via SPBM policies</a:t>
            </a:r>
          </a:p>
          <a:p>
            <a:pPr lvl="0" indent="0" marL="0">
              <a:buNone/>
            </a:pPr>
            <a:r>
              <a:rPr/>
              <a:t>Speaker notes: - Start small and iterate. Keep firmware/HCL validated and monitor health routinely.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— References (APA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VMware. (2015). vSphere 6.0 Configuration Maximums. https://www.vmware.com/pdf/vsphere6/r60/vsphere-60-configuration-maximums.pdf</a:t>
            </a:r>
          </a:p>
          <a:p>
            <a:pPr lvl="0"/>
            <a:r>
              <a:rPr/>
              <a:t>Seget, V. (2016, August 16). VMware VSAN – Hardware requirements. 4sysops. https://4sysops.com/archives/vmware-vsan-hardware-requirements/</a:t>
            </a:r>
          </a:p>
          <a:p>
            <a:pPr lvl="0"/>
            <a:r>
              <a:rPr/>
              <a:t>VirtuallyBoring (Daniel). (2015, August 14). VMware Virtual SAN 6 – Setup and Configuration [Part 2]. https://www.virtuallyboring.com/vmware-virtual-san-6-setup-and-configuration-part-2/</a:t>
            </a:r>
          </a:p>
          <a:p>
            <a:pPr lvl="0"/>
            <a:r>
              <a:rPr/>
              <a:t>Epping, D. (2014, May 22). One versus multiple VSAN disk groups per host. Yellow‑Bricks. https://www.yellow-bricks.com/2014/05/22/one-versus-multiple-vsan-diskgroups-per-host/</a:t>
            </a:r>
          </a:p>
          <a:p>
            <a:pPr lvl="0"/>
            <a:r>
              <a:rPr/>
              <a:t>Broadcom (VMware KB). (2025). Updating the vSAN HCL database manually (KB 2145116/315556). https://kb.vmware.com/s/article/2145116</a:t>
            </a:r>
          </a:p>
          <a:p>
            <a:pPr lvl="0" indent="0" marL="0">
              <a:buNone/>
            </a:pPr>
            <a:r>
              <a:rPr/>
              <a:t>Note: For vSAN 6.0 networking behavior (multicast requirement), see era‑specific design notes highlighted by 4sysops; later vSAN versions transitioned to unicast.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2025-10-24T17:35:53Z</dcterms:created>
  <dcterms:modified xsi:type="dcterms:W3CDTF">2025-10-24T17:35:53Z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